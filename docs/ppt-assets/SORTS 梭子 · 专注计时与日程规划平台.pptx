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61" r:id="rId5"/>
    <p:sldId id="258" r:id="rId6"/>
    <p:sldId id="260" r:id="rId7"/>
    <p:sldId id="259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0" y="-3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 SORTS 梭子项目展示封面。一句话定位：一个把专注计时做成显式状态机、并用 AI Agent 把规划直接落库的微服务全栈项目。技术栈走 Spring Cloud + Vue 3 双线，后续页面按架构、状态机、AI、一致性、演示、CI 的顺序展开。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TL;DR 页：6 微服务、396 用例、7 AI 工具、5 态状态机。核心取舍——专注秒数服务端裁定、AI 写库双钥匙。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演示动图页。GIF 展示从自然语言到按天分组规划再到批量落库的完整链路。强调服务端注入时间、结构化返回、前端勾选。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架构页。左图右文。核心：网关收口鉴权限流、一服务一库、Feign 内部调用、中间件全部容器化。强调为什么这样拆——为了边界清晰，不是为了微服务而微服务。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双钥匙页。7 工具 4 读 3 写；服务端开关 AND 请求级 allowWrite，两钥匙都到位才下发写工具。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状态机页。五态流转，非法跃迁 409。关键取舍：秒数服务端裁定、落梭事务、激励失败不回滚计时。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产品截图第 1 张：登录页。紫蓝渐变背景 + 白卡片，双令牌鉴权，网关注入用户 ID。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产品截图第 2 张：织历月视图。柔和径向渐变调色板，色点随机落点、按任务数占比扩散。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产品截图第 3 张：梭灵三栏。左侧会话列表、中间 SSE 对话、右侧按天分组规划建议面板。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锦市一致性页。5 步链路 + 条件更新 SQL 兜底。强调锁内重加载和 WHERE stock&gt;0 是双保险，诚实说明 outbox 技术债。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CI/CD 页。左图右 KPI。396 后端用例 + 4 IT + 19 前端。强调指标测试单独维护、关键安全路径有覆盖。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结尾页。深蓝渐变背景，左后端右前端技术栈，底部仓库地址。不放谢谢或问答页，直接给可访问链接。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2C5F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143000" y="1778000"/>
            <a:ext cx="990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SORTS · 梭子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143000" y="2794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专注计时与日程规划平台 · Spring Cloud 微服务 + AI Agent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0221">
            <a:off x="1143019" y="367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08C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1143000" y="3937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7C6BB0"/>
                </a:solidFill>
                <a:latin typeface="微软雅黑"/>
                <a:ea typeface="微软雅黑"/>
                <a:cs typeface="微软雅黑"/>
                <a:sym typeface="微软雅黑"/>
              </a:rPr>
              <a:t>光明似箭，日月如梭 —— 一次专注是开梭 / 续梭 / 落梭，一日日程是一根线。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55880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8086"/>
                </a:solidFill>
                <a:latin typeface="微软雅黑"/>
                <a:ea typeface="微软雅黑"/>
                <a:cs typeface="微软雅黑"/>
                <a:sym typeface="微软雅黑"/>
              </a:rPr>
              <a:t>Spring Boot 3.3 · Spring Cloud 2023 · Vue 3.5 + Vite · MySQL 8（5 库）· Redis · Nacos · DeepSeek Tool Calling</a:t>
            </a:r>
            <a:endParaRPr lang="en-US" sz="110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把专注数据收敛到服务端，再让 AI 直接落库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3271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889000" y="15875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SORTS 梭子 = 日程编排 + 穿梭计时 + 积分激励 + AI 助手。核心取舍：专注秒数是积分唯一数据源，不信任客户端计时；AI 写库走「双钥匙」声明式过滤，不是运行时兜底。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89000" y="3873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可运行微服务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网关 + user / schedule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/ ai / mall / notif.</a:t>
            </a:r>
          </a:p>
        </p:txBody>
      </p:sp>
      <p:sp>
        <p:nvSpPr>
          <p:cNvPr id="7" name="AutoShape 7"/>
          <p:cNvSpPr txBox="1"/>
          <p:nvPr/>
        </p:nvSpPr>
        <p:spPr>
          <a:xfrm>
            <a:off x="35560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4C7A5A"/>
                </a:solidFill>
                <a:latin typeface="微软雅黑"/>
                <a:ea typeface="微软雅黑"/>
                <a:cs typeface="微软雅黑"/>
                <a:sym typeface="微软雅黑"/>
              </a:rPr>
              <a:t>396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556000" y="3873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自动化测试用例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43 测试类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含 Testcontainers 集成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62230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7C6BB0"/>
                </a:solidFill>
                <a:latin typeface="微软雅黑"/>
                <a:ea typeface="微软雅黑"/>
                <a:cs typeface="微软雅黑"/>
                <a:sym typeface="微软雅黑"/>
              </a:rPr>
              <a:t>7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223000" y="3873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AI 工具（4 读 3 写）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双钥匙控制写操作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声明式过滤下发</a:t>
            </a:r>
          </a:p>
        </p:txBody>
      </p:sp>
      <p:sp>
        <p:nvSpPr>
          <p:cNvPr id="11" name="AutoShape 11"/>
          <p:cNvSpPr txBox="1"/>
          <p:nvPr/>
        </p:nvSpPr>
        <p:spPr>
          <a:xfrm>
            <a:off x="88900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D08C4A"/>
                </a:solidFill>
                <a:latin typeface="微软雅黑"/>
                <a:ea typeface="微软雅黑"/>
                <a:cs typeface="微软雅黑"/>
                <a:sym typeface="微软雅黑"/>
              </a:rPr>
              <a:t>5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890000" y="3873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显式状态机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开梭 → 暂停 / 续梭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→ 落梭 / 取消</a:t>
            </a:r>
          </a:p>
        </p:txBody>
      </p:sp>
      <p:sp>
        <p:nvSpPr>
          <p:cNvPr id="13" name="AutoShape 13"/>
          <p:cNvSpPr txBox="1"/>
          <p:nvPr/>
        </p:nvSpPr>
        <p:spPr>
          <a:xfrm>
            <a:off x="889000" y="5588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949A"/>
                </a:solidFill>
                <a:latin typeface="微软雅黑"/>
                <a:ea typeface="微软雅黑"/>
                <a:cs typeface="微软雅黑"/>
                <a:sym typeface="微软雅黑"/>
              </a:rPr>
              <a:t>口径：Spring Boot 3.3.4 · Spring Cloud 2023.0.3 · JDK 17 · 数据截至 2026-09</a:t>
            </a:r>
            <a:endParaRPr lang="en-US" sz="110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说一句话，梭灵按天生成 7 天规划，勾选后一键落库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747000" y="1524000"/>
            <a:ext cx="368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C6BB0"/>
                </a:solidFill>
                <a:latin typeface="微软雅黑"/>
                <a:ea typeface="微软雅黑"/>
                <a:cs typeface="微软雅黑"/>
                <a:sym typeface="微软雅黑"/>
              </a:rPr>
              <a:t>交互链路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747000" y="1968500"/>
            <a:ext cx="3683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用户输入「帮我生成未来一周规划」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服务端注入当前日期，解析相对时间范围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返回结构化 JSON：range + days[]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前端按天分组渲染，支持逐项勾选 / 行内编辑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确认后批量写入织程，自动刷新织历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同规划幂等：重复采纳不会重复落库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C42B42E-A883-7AF5-613F-288B688A4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37" y="1879600"/>
            <a:ext cx="6999824" cy="38210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网关统一收口：JWT 鉴权 + 20/s 令牌桶限流，服务间只走 Feign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9" b="29"/>
          <a:stretch>
            <a:fillRect/>
          </a:stretch>
        </p:blipFill>
        <p:spPr>
          <a:xfrm>
            <a:off x="1143000" y="1397000"/>
            <a:ext cx="2794000" cy="5168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4572000" y="1524000"/>
            <a:ext cx="685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关键约束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4572000" y="1968500"/>
            <a:ext cx="68580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一服务一库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：MySQL 5 个独立库（user / schedule / ai / notification / mall），服务间禁止跨库直连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网关剥离内部凭证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：入站请求统一剥除外造的 X-Internal-Token，关闭 discovery.locator 自动路由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限流按登录态分 key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：登录用户按 userId、未登录按 IP，默认 20/s、突发 40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服务注册 Nacos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：8848 注册发现，Feign 走内部网络，统一 /internal/** 不对外暴露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中间件 Docker Compose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：MySQL / Redis / Nacos / RabbitMQ 全部容器化，宿主不装 JDK / Node 也能跑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写操作不下发就不会被执行：双钥匙把校验前移到声明阶段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889000" y="1397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7 个工具（4 读 / 3 写）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18415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4C7A5A"/>
                </a:solidFill>
                <a:latin typeface="微软雅黑"/>
                <a:ea typeface="微软雅黑"/>
                <a:cs typeface="微软雅黑"/>
                <a:sym typeface="微软雅黑"/>
              </a:rPr>
              <a:t>读</a:t>
            </a: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QuerySchedules · QueryStatistics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200" b="1" i="0" u="none" strike="noStrike">
                <a:solidFill>
                  <a:srgbClr val="4C7A5A"/>
                </a:solidFill>
                <a:latin typeface="微软雅黑"/>
                <a:ea typeface="微软雅黑"/>
                <a:cs typeface="微软雅黑"/>
                <a:sym typeface="微软雅黑"/>
              </a:rPr>
              <a:t>读</a:t>
            </a: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QueryPoints · GetProfile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1" i="0" u="none" strike="noStrike">
                <a:solidFill>
                  <a:srgbClr val="D08C4A"/>
                </a:solidFill>
                <a:latin typeface="微软雅黑"/>
                <a:ea typeface="微软雅黑"/>
                <a:cs typeface="微软雅黑"/>
                <a:sym typeface="微软雅黑"/>
              </a:rPr>
              <a:t>写</a:t>
            </a: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CreateSchedule · CreateSchedules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1" i="0" u="none" strike="noStrike">
                <a:solidFill>
                  <a:srgbClr val="D08C4A"/>
                </a:solidFill>
                <a:latin typeface="微软雅黑"/>
                <a:ea typeface="微软雅黑"/>
                <a:cs typeface="微软雅黑"/>
                <a:sym typeface="微软雅黑"/>
              </a:rPr>
              <a:t>写</a:t>
            </a: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UpdateSchedule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SSE 流式打字机；上下文存 Redis 12h；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服务端注入当前时间，解析「下周 / 未来一周」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等相对日期并按天生成多日规划；同周期报告幂等。</a:t>
            </a:r>
          </a:p>
        </p:txBody>
      </p:sp>
      <p:sp>
        <p:nvSpPr>
          <p:cNvPr id="6" name="AutoShape 6"/>
          <p:cNvSpPr txBox="1"/>
          <p:nvPr/>
        </p:nvSpPr>
        <p:spPr>
          <a:xfrm>
            <a:off x="6350000" y="13970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C6BB0"/>
                </a:solidFill>
                <a:latin typeface="微软雅黑"/>
                <a:ea typeface="微软雅黑"/>
                <a:cs typeface="微软雅黑"/>
                <a:sym typeface="微软雅黑"/>
              </a:rPr>
              <a:t>双钥匙模型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968500"/>
            <a:ext cx="2159000" cy="762000"/>
          </a:xfrm>
          <a:prstGeom prst="roundRect">
            <a:avLst>
              <a:gd name="adj" fmla="val 13333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钥匙 1 · 服务端开关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sorts.ai.tool.allow-write</a:t>
            </a:r>
          </a:p>
        </p:txBody>
      </p:sp>
      <p:sp>
        <p:nvSpPr>
          <p:cNvPr id="8" name="AutoShape 8"/>
          <p:cNvSpPr/>
          <p:nvPr/>
        </p:nvSpPr>
        <p:spPr>
          <a:xfrm>
            <a:off x="9398000" y="1968500"/>
            <a:ext cx="2159000" cy="762000"/>
          </a:xfrm>
          <a:prstGeom prst="roundRect">
            <a:avLst>
              <a:gd name="adj" fmla="val 13333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钥匙 2 · 单次请求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allowWrite=true（用户勾选）</a:t>
            </a:r>
          </a:p>
        </p:txBody>
      </p:sp>
      <p:sp>
        <p:nvSpPr>
          <p:cNvPr id="9" name="AutoShape 9"/>
          <p:cNvSpPr/>
          <p:nvPr/>
        </p:nvSpPr>
        <p:spPr>
          <a:xfrm>
            <a:off x="8534400" y="2184400"/>
            <a:ext cx="457200" cy="457200"/>
          </a:xfrm>
          <a:prstGeom prst="ellipse">
            <a:avLst/>
          </a:prstGeom>
          <a:solidFill>
            <a:srgbClr val="2C5F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且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01805">
            <a:off x="8540750" y="29464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C6BB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6858000" y="32385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2C5F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两个都到位，写工具才下发给模型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任一缺失 → 模型根本看不到写工具</a:t>
            </a:r>
          </a:p>
        </p:txBody>
      </p:sp>
      <p:sp>
        <p:nvSpPr>
          <p:cNvPr id="12" name="AutoShape 12"/>
          <p:cNvSpPr txBox="1"/>
          <p:nvPr/>
        </p:nvSpPr>
        <p:spPr>
          <a:xfrm>
            <a:off x="889000" y="48260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为什么是声明式过滤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：运行时拦截是"模型已经调了再拦"，声明式是"工具列表里压根没有写工具"，从根上避免越权落库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多日规划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：用户说"帮我生成未来一周规划"，服务端注入当前日期，按天分组返回结构化 JSON，前端勾选后批量落库，同规划幂等拒绝重复采纳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专注秒数由服务端裁定：五态显式状态机，非法跃迁直接 409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2540000"/>
            <a:ext cx="1651000" cy="711200"/>
          </a:xfrm>
          <a:prstGeom prst="roundRect">
            <a:avLst>
              <a:gd name="adj" fmla="val 17857"/>
            </a:avLst>
          </a:prstGeom>
          <a:solidFill>
            <a:srgbClr val="E8EA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5A6066"/>
                </a:solidFill>
                <a:latin typeface="微软雅黑"/>
                <a:ea typeface="微软雅黑"/>
                <a:cs typeface="微软雅黑"/>
                <a:sym typeface="微软雅黑"/>
              </a:rPr>
              <a:t>PENDING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5A6066"/>
                </a:solidFill>
                <a:latin typeface="微软雅黑"/>
                <a:ea typeface="微软雅黑"/>
                <a:cs typeface="微软雅黑"/>
                <a:sym typeface="微软雅黑"/>
              </a:rPr>
              <a:t>待开始</a:t>
            </a:r>
          </a:p>
        </p:txBody>
      </p:sp>
      <p:sp>
        <p:nvSpPr>
          <p:cNvPr id="5" name="AutoShape 5"/>
          <p:cNvSpPr/>
          <p:nvPr/>
        </p:nvSpPr>
        <p:spPr>
          <a:xfrm>
            <a:off x="3683000" y="2540000"/>
            <a:ext cx="1778000" cy="711200"/>
          </a:xfrm>
          <a:prstGeom prst="roundRect">
            <a:avLst>
              <a:gd name="adj" fmla="val 17857"/>
            </a:avLst>
          </a:prstGeom>
          <a:solidFill>
            <a:srgbClr val="2C5F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IN_PROGRESS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开梭中</a:t>
            </a:r>
          </a:p>
        </p:txBody>
      </p:sp>
      <p:sp>
        <p:nvSpPr>
          <p:cNvPr id="6" name="AutoShape 6"/>
          <p:cNvSpPr/>
          <p:nvPr/>
        </p:nvSpPr>
        <p:spPr>
          <a:xfrm>
            <a:off x="6477000" y="2540000"/>
            <a:ext cx="1524000" cy="711200"/>
          </a:xfrm>
          <a:prstGeom prst="roundRect">
            <a:avLst>
              <a:gd name="adj" fmla="val 17857"/>
            </a:avLst>
          </a:prstGeom>
          <a:solidFill>
            <a:srgbClr val="D08C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PAUSED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已暂停</a:t>
            </a:r>
          </a:p>
        </p:txBody>
      </p:sp>
      <p:sp>
        <p:nvSpPr>
          <p:cNvPr id="7" name="AutoShape 7"/>
          <p:cNvSpPr/>
          <p:nvPr/>
        </p:nvSpPr>
        <p:spPr>
          <a:xfrm>
            <a:off x="9398000" y="1778000"/>
            <a:ext cx="1778000" cy="711200"/>
          </a:xfrm>
          <a:prstGeom prst="roundRect">
            <a:avLst>
              <a:gd name="adj" fmla="val 17857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COMPLETED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落梭</a:t>
            </a:r>
          </a:p>
        </p:txBody>
      </p:sp>
      <p:sp>
        <p:nvSpPr>
          <p:cNvPr id="8" name="AutoShape 8"/>
          <p:cNvSpPr/>
          <p:nvPr/>
        </p:nvSpPr>
        <p:spPr>
          <a:xfrm>
            <a:off x="9398000" y="3302000"/>
            <a:ext cx="1778000" cy="711200"/>
          </a:xfrm>
          <a:prstGeom prst="roundRect">
            <a:avLst>
              <a:gd name="adj" fmla="val 17857"/>
            </a:avLst>
          </a:prstGeom>
          <a:solidFill>
            <a:srgbClr val="C8CD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50565C"/>
                </a:solidFill>
                <a:latin typeface="微软雅黑"/>
                <a:ea typeface="微软雅黑"/>
                <a:cs typeface="微软雅黑"/>
                <a:sym typeface="微软雅黑"/>
              </a:rPr>
              <a:t>CANCELLED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50565C"/>
                </a:solidFill>
                <a:latin typeface="微软雅黑"/>
                <a:ea typeface="微软雅黑"/>
                <a:cs typeface="微软雅黑"/>
                <a:sym typeface="微软雅黑"/>
              </a:rPr>
              <a:t>已取消</a:t>
            </a:r>
          </a:p>
        </p:txBody>
      </p:sp>
      <p:cxnSp>
        <p:nvCxnSpPr>
          <p:cNvPr id="9" name="Connector 9"/>
          <p:cNvCxnSpPr/>
          <p:nvPr/>
        </p:nvCxnSpPr>
        <p:spPr>
          <a:xfrm rot="-44071">
            <a:off x="2667041" y="2889250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606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0" name="Connector 10"/>
          <p:cNvCxnSpPr/>
          <p:nvPr/>
        </p:nvCxnSpPr>
        <p:spPr>
          <a:xfrm rot="-44071">
            <a:off x="5461041" y="2889250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606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1" name="Connector 11"/>
          <p:cNvCxnSpPr/>
          <p:nvPr/>
        </p:nvCxnSpPr>
        <p:spPr>
          <a:xfrm rot="10754769">
            <a:off x="5486358" y="3041650"/>
            <a:ext cx="96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C5A4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2" name="Connector 12"/>
          <p:cNvCxnSpPr/>
          <p:nvPr/>
        </p:nvCxnSpPr>
        <p:spPr>
          <a:xfrm rot="-426199">
            <a:off x="5446811" y="2362199"/>
            <a:ext cx="39018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C5A4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3" name="Connector 13"/>
          <p:cNvCxnSpPr/>
          <p:nvPr/>
        </p:nvCxnSpPr>
        <p:spPr>
          <a:xfrm rot="381579">
            <a:off x="5448300" y="3390901"/>
            <a:ext cx="389892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E747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 txBox="1"/>
          <p:nvPr/>
        </p:nvSpPr>
        <p:spPr>
          <a:xfrm>
            <a:off x="889000" y="4445000"/>
            <a:ext cx="1041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跃迁路径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：PENDING → IN_PROGRESS → PAUSED → 续梭回 IN_PROGRESS → COMPLETED / CANCELLED；暂停态可取消，不可直接落梭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为什么不信任客户端计时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：专注秒数是光阴砂积分唯一数据源，秒数累计全部在 schedule 服务端完成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落梭事务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：单事务内结算秒数并原子发放光阴砂；发放失败仅告警、不回滚计时，宁少发不多发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355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双令牌鉴权 · 紫蓝渐变登录页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857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638300" y="6223000"/>
            <a:ext cx="8915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949A"/>
                </a:solidFill>
                <a:latin typeface="微软雅黑"/>
                <a:ea typeface="微软雅黑"/>
                <a:cs typeface="微软雅黑"/>
                <a:sym typeface="微软雅黑"/>
              </a:rPr>
              <a:t>access 30 分钟 + refresh 7 天 · 网关统一校验 JWT 并注入 X-User-Id · 401 单飞续期后自动重放原请求</a:t>
            </a:r>
            <a:endParaRPr lang="en-US" sz="11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3ECD13-5D18-276B-8A80-9D2274D9D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26" y="784332"/>
            <a:ext cx="9566674" cy="54386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355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织历月视图 · 柔和径向渐变调色板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857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985" b="4985"/>
          <a:stretch>
            <a:fillRect/>
          </a:stretch>
        </p:blipFill>
        <p:spPr>
          <a:xfrm>
            <a:off x="1638300" y="1079500"/>
            <a:ext cx="8915400" cy="5016500"/>
          </a:xfrm>
          <a:prstGeom prst="roundRect">
            <a:avLst>
              <a:gd name="adj" fmla="val 253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638300" y="6223000"/>
            <a:ext cx="8915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949A"/>
                </a:solidFill>
                <a:latin typeface="微软雅黑"/>
                <a:ea typeface="微软雅黑"/>
                <a:cs typeface="微软雅黑"/>
                <a:sym typeface="微软雅黑"/>
              </a:rPr>
              <a:t>每个日期块按任务颜色做径向渐变扩散 · 任务数决定色块占比 · 点击日期跳转织程并带 date 参数</a:t>
            </a:r>
            <a:endParaRPr lang="en-US" sz="110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355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梭灵三栏 · 会话 / 对话 / 规划建议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857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7789" b="7789"/>
          <a:stretch>
            <a:fillRect/>
          </a:stretch>
        </p:blipFill>
        <p:spPr>
          <a:xfrm>
            <a:off x="1638300" y="1079500"/>
            <a:ext cx="8915400" cy="5016500"/>
          </a:xfrm>
          <a:prstGeom prst="roundRect">
            <a:avLst>
              <a:gd name="adj" fmla="val 253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638300" y="6223000"/>
            <a:ext cx="8915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949A"/>
                </a:solidFill>
                <a:latin typeface="微软雅黑"/>
                <a:ea typeface="微软雅黑"/>
                <a:cs typeface="微软雅黑"/>
                <a:sym typeface="微软雅黑"/>
              </a:rPr>
              <a:t>SSE 流式打字机 · 按天分组规划建议 · 逐项勾选 / 行内编辑 / 一键批量落库 · 会话刷新不丢</a:t>
            </a:r>
            <a:endParaRPr lang="en-US" sz="110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兑换链路固定顺序：Redisson 锁 + 条件更新，锁租期失效仍安全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889000" y="2032000"/>
            <a:ext cx="1778000" cy="889000"/>
          </a:xfrm>
          <a:prstGeom prst="roundRect">
            <a:avLst>
              <a:gd name="adj" fmla="val 11428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1. Redisson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分布式加锁</a:t>
            </a:r>
          </a:p>
        </p:txBody>
      </p:sp>
      <p:sp>
        <p:nvSpPr>
          <p:cNvPr id="5" name="AutoShape 5"/>
          <p:cNvSpPr/>
          <p:nvPr/>
        </p:nvSpPr>
        <p:spPr>
          <a:xfrm>
            <a:off x="3175000" y="2032000"/>
            <a:ext cx="1778000" cy="889000"/>
          </a:xfrm>
          <a:prstGeom prst="roundRect">
            <a:avLst>
              <a:gd name="adj" fmla="val 11428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2. 锁内重加载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防止排队期间状态漂移</a:t>
            </a:r>
          </a:p>
        </p:txBody>
      </p:sp>
      <p:sp>
        <p:nvSpPr>
          <p:cNvPr id="6" name="AutoShape 6"/>
          <p:cNvSpPr/>
          <p:nvPr/>
        </p:nvSpPr>
        <p:spPr>
          <a:xfrm>
            <a:off x="5461000" y="2032000"/>
            <a:ext cx="1778000" cy="889000"/>
          </a:xfrm>
          <a:prstGeom prst="roundRect">
            <a:avLst>
              <a:gd name="adj" fmla="val 11428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3. 扣积分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校验余额</a:t>
            </a:r>
          </a:p>
        </p:txBody>
      </p:sp>
      <p:sp>
        <p:nvSpPr>
          <p:cNvPr id="7" name="AutoShape 7"/>
          <p:cNvSpPr/>
          <p:nvPr/>
        </p:nvSpPr>
        <p:spPr>
          <a:xfrm>
            <a:off x="7747000" y="2032000"/>
            <a:ext cx="1778000" cy="889000"/>
          </a:xfrm>
          <a:prstGeom prst="roundRect">
            <a:avLst>
              <a:gd name="adj" fmla="val 11428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4. 事务落库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订单 + 库存扣减</a:t>
            </a:r>
          </a:p>
        </p:txBody>
      </p:sp>
      <p:sp>
        <p:nvSpPr>
          <p:cNvPr id="8" name="AutoShape 8"/>
          <p:cNvSpPr/>
          <p:nvPr/>
        </p:nvSpPr>
        <p:spPr>
          <a:xfrm>
            <a:off x="10033000" y="2032000"/>
            <a:ext cx="1397000" cy="889000"/>
          </a:xfrm>
          <a:prstGeom prst="roundRect">
            <a:avLst>
              <a:gd name="adj" fmla="val 11428"/>
            </a:avLst>
          </a:prstGeom>
          <a:solidFill>
            <a:srgbClr val="FCF0E4">
              <a:alpha val="100000"/>
            </a:srgbClr>
          </a:solidFill>
          <a:ln w="12700" cap="flat" cmpd="sng">
            <a:solidFill>
              <a:srgbClr val="D08C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06428"/>
                </a:solidFill>
                <a:latin typeface="微软雅黑"/>
                <a:ea typeface="微软雅黑"/>
                <a:cs typeface="微软雅黑"/>
                <a:sym typeface="微软雅黑"/>
              </a:rPr>
              <a:t>5. 失败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A06428"/>
                </a:solidFill>
                <a:latin typeface="微软雅黑"/>
                <a:ea typeface="微软雅黑"/>
                <a:cs typeface="微软雅黑"/>
                <a:sym typeface="微软雅黑"/>
              </a:rPr>
              <a:t>退积分</a:t>
            </a:r>
          </a:p>
        </p:txBody>
      </p:sp>
      <p:cxnSp>
        <p:nvCxnSpPr>
          <p:cNvPr id="9" name="Connector 9"/>
          <p:cNvCxnSpPr/>
          <p:nvPr/>
        </p:nvCxnSpPr>
        <p:spPr>
          <a:xfrm rot="-90446">
            <a:off x="2667084" y="2470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C6BB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0" name="Connector 10"/>
          <p:cNvCxnSpPr/>
          <p:nvPr/>
        </p:nvCxnSpPr>
        <p:spPr>
          <a:xfrm rot="-90446">
            <a:off x="4953084" y="2470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C6BB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1" name="Connector 11"/>
          <p:cNvCxnSpPr/>
          <p:nvPr/>
        </p:nvCxnSpPr>
        <p:spPr>
          <a:xfrm rot="-90446">
            <a:off x="7239084" y="2470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C6BB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2" name="Connector 12"/>
          <p:cNvCxnSpPr/>
          <p:nvPr/>
        </p:nvCxnSpPr>
        <p:spPr>
          <a:xfrm rot="-90446">
            <a:off x="9525084" y="2470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08C4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889000" y="3683000"/>
            <a:ext cx="10541000" cy="1016000"/>
          </a:xfrm>
          <a:prstGeom prst="roundRect">
            <a:avLst>
              <a:gd name="adj" fmla="val 10000"/>
            </a:avLst>
          </a:prstGeom>
          <a:solidFill>
            <a:srgbClr val="F8FAFA">
              <a:alpha val="100000"/>
            </a:srgbClr>
          </a:solidFill>
          <a:ln w="12700" cap="flat" cmpd="sng">
            <a:solidFill>
              <a:srgbClr val="2C5F7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　库存兜底：UPDATE mall_item SET stock = stock - 1 WHERE id = ? AND stock &gt; 0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　即使锁租期失效、并发穿透，条件更新也保证不会扣成负数；受影响行数 = 0 即视为售罄回滚。</a:t>
            </a:r>
          </a:p>
        </p:txBody>
      </p:sp>
      <p:sp>
        <p:nvSpPr>
          <p:cNvPr id="14" name="AutoShape 14"/>
          <p:cNvSpPr txBox="1"/>
          <p:nvPr/>
        </p:nvSpPr>
        <p:spPr>
          <a:xfrm>
            <a:off x="889000" y="5080000"/>
            <a:ext cx="1054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为什么是这个顺序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：先锁再读，避免「查库存够 → 排队 → 落库时已被抢光」的 TOCTOU；锁内重加载是对排队期间状态漂移的二次防御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已知技术债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：扣积分成功 ↔ 本地事务提交间进程被杀，仅 ERROR 日志留痕，待 RabbitMQ outbox 消息补偿自愈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43 个测试类 / 396 用例全绿：GitHub Actions 三并行 Job 矩阵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4" b="14"/>
          <a:stretch>
            <a:fillRect/>
          </a:stretch>
        </p:blipFill>
        <p:spPr>
          <a:xfrm>
            <a:off x="889000" y="1397000"/>
            <a:ext cx="27940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4318000" y="1524000"/>
            <a:ext cx="698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测试规模与流水线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20320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5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396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后端用例全绿</a:t>
            </a:r>
          </a:p>
        </p:txBody>
      </p:sp>
      <p:sp>
        <p:nvSpPr>
          <p:cNvPr id="7" name="AutoShape 7"/>
          <p:cNvSpPr/>
          <p:nvPr/>
        </p:nvSpPr>
        <p:spPr>
          <a:xfrm>
            <a:off x="6731000" y="20320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5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C7A5A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Testcontainers 集成测试</a:t>
            </a:r>
          </a:p>
        </p:txBody>
      </p:sp>
      <p:sp>
        <p:nvSpPr>
          <p:cNvPr id="8" name="AutoShape 8"/>
          <p:cNvSpPr/>
          <p:nvPr/>
        </p:nvSpPr>
        <p:spPr>
          <a:xfrm>
            <a:off x="9144000" y="20320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5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D08C4A"/>
                </a:solidFill>
                <a:latin typeface="微软雅黑"/>
                <a:ea typeface="微软雅黑"/>
                <a:cs typeface="微软雅黑"/>
                <a:sym typeface="微软雅黑"/>
              </a:rPr>
              <a:t>19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前端 Vitest 用例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4318000" y="3429000"/>
            <a:ext cx="698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41 个业务单测 + 4 个 Testcontainers IT（MySQL / Redis 真实容器）+ 25 个指标测试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三并行 Job：后端单测 · 集成测试 · 前端 Vitest，互不阻塞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6 个服务镜像独立构建，docker/compose.yml 一键编排，宿主不装 JDK / Node 也能跑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指标测试单独维护：双钥匙模型、五态状态机、兑换条件更新等关键安全路径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5F7C">
                <a:alpha val="100000"/>
              </a:srgbClr>
            </a:gs>
            <a:gs pos="100000">
              <a:srgbClr val="3C6E8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14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SORTS 梭子 · 专注计时平台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90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光明似箭，日月如梭 —— 让专注秒数成为唯一真相源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2533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921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后端</a:t>
            </a: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Spring Boot 3.3 · Spring Cloud 2023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Nacos · Gateway WebFlux · Feign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MySQL 8（一服务一库）· Redis · RabbitMQ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Redisson · DeepSeek API · SSE</a:t>
            </a:r>
          </a:p>
        </p:txBody>
      </p:sp>
      <p:sp>
        <p:nvSpPr>
          <p:cNvPr id="6" name="AutoShape 6"/>
          <p:cNvSpPr txBox="1"/>
          <p:nvPr/>
        </p:nvSpPr>
        <p:spPr>
          <a:xfrm>
            <a:off x="6350000" y="2921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前端</a:t>
            </a: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Vue 3.5 · TypeScript · Pinia · Vite 6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Vue Router 4 · 织锦流光主题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工程</a:t>
            </a: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Docker Compose · GitHub Actions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43 测试类 / 396 用例全绿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5588000"/>
            <a:ext cx="6350000" cy="5588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github.com/Q1anyii/Sorts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939</Words>
  <Application>Microsoft Office PowerPoint</Application>
  <PresentationFormat>宽屏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先生 郭</cp:lastModifiedBy>
  <cp:revision>2</cp:revision>
  <dcterms:modified xsi:type="dcterms:W3CDTF">2026-10-09T05:50:31Z</dcterms:modified>
</cp:coreProperties>
</file>